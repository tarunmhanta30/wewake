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20"/>
    <p:sldId id="270" r:id="rId21"/>
    <p:sldId id="271" r:id="rId22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WEWAKE. Wake up before you pay. India loses 22,495 crore a year to cyber fraud, and only 6.7% is ever recovered. I am not building another scam detector. I am building the first app that detects the victim being coerced.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hacked in these cases. The victim is frightened into transferring money. That means the vulnerability is not in the software. It is in the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bank sees a risk score the citizen never sees. The police get involved after the money is gone. The middle is empty, and the middle is where the crime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Attackers change links constantly, but they cannot change the psychology. Fear, authority, secrecy, urgency and isolation appear in every case. That pattern is stable, so that is what we detect.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see the trap, read the pressure, break the trance, protect and prove. Twelve features total, deliberately scoped so every one is actually shippable.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one handles the artifact. Pillar two is the novel part: scammers reuse the same seven stories, so we match the story, not the phone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8 is the emotional core of the demo. Feature 12 is the answer to any privacy question: every decision is explainable and appealable.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five is the heart of it. Under coercion people are repeating someone else’s script. Forcing them to write it in their own words is what breaks the spell.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intentionally unglamorous. The intelligence is in the scam-script modelling and the friction design, not in an exotic dependency. It also means every feature is genuinely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column here is a real product category. None of them acts during the twenty minutes of coercion, and none of them explains itself to the user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 is not only money saved. It is that a fraud defence can be built without asking citizens to surrender privacy, which matters a lot in the current climate.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in priority order, so there is a working demo at the end of every single day rather than only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 on the detection model, the friction design, or the privacy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answer the hardest questions a judge can ask: does it generalise, does it work in Indian languages, and does it work on real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in testing. Rewordings that dodge every keyword still score 71 percent on the model. Ordinary messages stay silent — no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when transcription is imperfect, the hybrid still catches it. That is the value of running both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C2748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108960" cy="3108960"/>
          </a:xfrm>
          <a:prstGeom prst="ellipse">
            <a:avLst/>
          </a:prstGeom>
          <a:solidFill>
            <a:srgbClr val="4A1F2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PRASUNETHON 2.0  ·  CYBERSECURITY TRACK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WEWAKE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749808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up before you pay.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3337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first coercion-aware financial firewall — it does not just check if a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 fake. It checks whether you are being controlled right now.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C274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280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₹22,495 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470916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C274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48280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2.81 million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5212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470916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1C274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8280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5212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recovered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6053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Mhanta  |  Solo Entry  |  Round 1 — Idea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is not stolen. It is handed over.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almost every major Indian cyber fraud, nothing is hacked. No password is broken. A calm, intelligent adult is frightened for hours — and transfers the money themselves.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B9C2D6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505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₹22,495 Cr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cyber fraud in 2025 alone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2402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B9C2D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4505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₹4,057 Cr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30906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scams, 2022–May 2026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2402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B9C2D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4505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7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30906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UPI fraud victims never report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22402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B9C2D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4505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7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30906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stolen money is ever recovered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victims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" y="4837176"/>
            <a:ext cx="146304" cy="146304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7548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82-year-old woman, Chandigarh — ₹2.5 crore, after fake CBI and Supreme Court “warrants”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5312664"/>
            <a:ext cx="146304" cy="146304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230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woman, Mangaluru — ₹3.09 crore, drained slowly across six months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5788152"/>
            <a:ext cx="146304" cy="146304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70585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80-year-old retired employee, Delhi — ₹42 lakh, kept on a non-stop video call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I4C / MHA, RBI, NPCI, Parliament replies (2025–26)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TODAY’S DEFENCES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protects the bank or the police report.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protects the twenty minutes in between.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Bank-side systems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FRI, Digital Intelligence Platform, AI monitoring.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sees a risk score.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citizen never does.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5383B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is alone with the scammer, being told exactly what to do — and told to tell nobody.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9328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39328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systems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39328" y="30175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 helpline, cybercrime portal, Chakshu.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starts after the money is already gone.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cannot reach the attackers — nearly 46% of digital arrest operations run out of Cambodia, Myanmar and Laos.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side of this crime India can actually defend is the victim’s side.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changes everything.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1C274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7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APP ASKS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dirty="0">
                <a:solidFill>
                  <a:srgbClr val="C7D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this message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dirty="0">
                <a:solidFill>
                  <a:srgbClr val="C7D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link fake?”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Scammers change the link every hour.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E5383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WEWAKE ASKS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this person being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right now?”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 script never changes.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scam link can be rewritten in seconds. But the human script — fake authority, a frightening accusation, a demand for secrecy, relentless urgency, and cutting you off from family — is the same in every single case on record.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C274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23036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WEWAKE detects that script, and then buys back the 60 seconds of judgement the scammer stole.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pillars, one continuous shield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trap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340156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the payment request, the link and the unknown payee — in plain language.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1810512"/>
            <a:ext cx="658368" cy="658368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1947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85032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SAMVAAD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85032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pressure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85032" y="340156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conversation against known coercion scripts and fires on secrecy demands.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1810512"/>
            <a:ext cx="658368" cy="658368"/>
          </a:xfrm>
          <a:prstGeom prst="ellipse">
            <a:avLst/>
          </a:prstGeom>
          <a:solidFill>
            <a:srgbClr val="B470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947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73952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VILAMB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73952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47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trance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3952" y="340156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friction sized by danger, not by amount — and forces the user to think in their own words.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06840" y="155448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2872" y="1810512"/>
            <a:ext cx="658368" cy="65836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4" name="Text 22"/>
          <p:cNvSpPr/>
          <p:nvPr/>
        </p:nvSpPr>
        <p:spPr>
          <a:xfrm>
            <a:off x="9262872" y="1947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62872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RAKSHAK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262872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prove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62872" y="340156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golden hour, files the complaint automatically, and explains every decision.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0182E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3309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features. Zero risky permissions. No call recording, no bank API, no deepfake claims — everything shown here is buildable in three days.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 · 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trap, and reading the pressure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645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 — See the trap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32688" y="2231136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81328" y="21945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Request Decoder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81328" y="2514600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payment link and says it plainly: “₹45,000 will LEAVE your account.” Most victims believe they are receiving.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29184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3649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81328" y="325526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&amp; App Checker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575304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of any pasted link: brand-lookalike domains, brand-new registrations, hidden short links, fake banking APKs.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4352544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425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81328" y="431596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Payee Card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81328" y="4636008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paying a stranger, a plain risk card: how new the UPI ID is, and how many people have already flagged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01968" y="1645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53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SAMVAAD — Read the pressure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01968" y="2231136"/>
            <a:ext cx="384048" cy="384048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50608" y="21945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Script Engine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50608" y="251460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chat. It matches against 7 known scam narratives and returns: “Digital Arrest script — 91% match.”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01968" y="3291840"/>
            <a:ext cx="384048" cy="384048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601968" y="33649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50608" y="325526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Truth Card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50608" y="3575304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ground truth: no agency in India conducts a “digital arrest.” CBI and ED never interrogate on WhatsApp.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01968" y="4352544"/>
            <a:ext cx="384048" cy="384048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9" name="Text 27"/>
          <p:cNvSpPr/>
          <p:nvPr/>
        </p:nvSpPr>
        <p:spPr>
          <a:xfrm>
            <a:off x="6601968" y="4425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50608" y="431596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Secrecy Trigger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150608" y="4636008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not tell your family” appears in nearly every case on record. This one phrase alone can push the alert to maximum.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 · 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the trance, and surviving the aftermath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645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7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VILAMB — Break the trance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32688" y="2231136"/>
            <a:ext cx="384048" cy="384048"/>
          </a:xfrm>
          <a:prstGeom prst="ellipse">
            <a:avLst/>
          </a:prstGeom>
          <a:solidFill>
            <a:srgbClr val="B4700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81328" y="21945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Timer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81328" y="2514600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forced, unskippable wait — its length set by the coercion score, not the rupee amount. RBI is itself considering exactly this.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291840"/>
            <a:ext cx="384048" cy="384048"/>
          </a:xfrm>
          <a:prstGeom prst="ellipse">
            <a:avLst/>
          </a:prstGeom>
          <a:solidFill>
            <a:srgbClr val="B4700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3649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81328" y="325526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575304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must type, unprompted, why they are sending this money. A rehearsed script collapses the moment you have to explain it yourself.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4352544"/>
            <a:ext cx="384048" cy="384048"/>
          </a:xfrm>
          <a:prstGeom prst="ellipse">
            <a:avLst/>
          </a:prstGeom>
          <a:solidFill>
            <a:srgbClr val="B4700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425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81328" y="431596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Verification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81328" y="4636008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dials the real, published number of the agency or bank — never the number the caller supplied.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14300" dist="25400" dir="5400000">
              <a:srgbClr val="AEB8CE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01968" y="1645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RAKSHAK — Protect and prove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01968" y="2231136"/>
            <a:ext cx="384048" cy="38404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50608" y="21945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Mode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50608" y="2514600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money already left: a live countdown and an ordered checklist, because freezing the mule account early is the only thing that recovers funds.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01968" y="3291840"/>
            <a:ext cx="384048" cy="38404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5" name="Text 23"/>
          <p:cNvSpPr/>
          <p:nvPr/>
        </p:nvSpPr>
        <p:spPr>
          <a:xfrm>
            <a:off x="6601968" y="33649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50608" y="325526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Evidence File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50608" y="3575304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Auto-builds the complaint — UTRs, timestamps, screenshots, chat logs — formatted for 1930 and the cybercrime portal.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01968" y="4352544"/>
            <a:ext cx="384048" cy="38404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9" name="Text 27"/>
          <p:cNvSpPr/>
          <p:nvPr/>
        </p:nvSpPr>
        <p:spPr>
          <a:xfrm>
            <a:off x="6601968" y="4425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50608" y="431596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Why-It-Flagged Log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150608" y="4636008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explains its own reasoning, and the user can dispute it. Disputes feed back and improve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THAT SAVES 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Ninety seconds inside WEWAKE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C2748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700784"/>
            <a:ext cx="457200" cy="457200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30428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“CBI officer” says her Aadhaar is linked to money laundering. Transfer ₹8 lakh to a “safe account.” Tell nobody.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463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C2748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700784"/>
            <a:ext cx="457200" cy="457200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02936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30428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pastes the chat. WEWAKE: “Digital Arrest script — 91% match.”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C274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1700784"/>
            <a:ext cx="457200" cy="457200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24544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230428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 screen: no agency in India performs a digital arrest.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C2748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3986784"/>
            <a:ext cx="457200" cy="457200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pause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6112" y="459028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timer she cannot skip. The pressure finally has to wait.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1688" y="3749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538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9867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02936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459028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must type why she is paying. She writes the scammer’s words — and sees them matched to a known script.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83296" y="37490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C2748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9328" y="3986784"/>
            <a:ext cx="457200" cy="457200"/>
          </a:xfrm>
          <a:prstGeom prst="ellipse">
            <a:avLst/>
          </a:prstGeom>
          <a:solidFill>
            <a:srgbClr val="F4A340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24544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39328" y="459028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stops. The evidence file is generated anyway, and reported.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demo video, end to end.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 technology. Clever design.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intelligent part of WEWAKE lives in the scam-script modelling and the friction design — not in an exotic dependency.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AEB8CE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956816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423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816352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71216" y="173736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AEB8CE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0672" y="1956816"/>
            <a:ext cx="365760" cy="365760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11" name="Text 9"/>
          <p:cNvSpPr/>
          <p:nvPr/>
        </p:nvSpPr>
        <p:spPr>
          <a:xfrm>
            <a:off x="3090672" y="2423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90672" y="2816352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Railway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02352" y="173736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AEB8CE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21808" y="1956816"/>
            <a:ext cx="365760" cy="365760"/>
          </a:xfrm>
          <a:prstGeom prst="ellipse">
            <a:avLst/>
          </a:prstGeom>
          <a:solidFill>
            <a:srgbClr val="B47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321808" y="2423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21808" y="2816352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engine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structured scam scripts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keyword matching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classifier layer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33488" y="173736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AEB8CE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52944" y="1956816"/>
            <a:ext cx="365760" cy="36576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9" name="Text 17"/>
          <p:cNvSpPr/>
          <p:nvPr/>
        </p:nvSpPr>
        <p:spPr>
          <a:xfrm>
            <a:off x="7552944" y="2423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52944" y="2816352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Flagged-payee registry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+ audit tables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64624" y="173736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AEB8CE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84080" y="1956816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2423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84080" y="2816352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complaints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to 1930 / NCRP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(EN/HI/MR)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decision log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018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9560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did NOT use — and why that is a feature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3035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 recording  ·  No microphone access  ·  No deepfake-detection claims  ·  No bank API dependency  ·  No government API we do not control.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scary permission is removed by design, so nothing here is blocked by an OS policy, a regulator, or a partnership we do not have.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nobody else is doing</a:t>
            </a:r>
            <a:endParaRPr lang="en-US" sz="3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783080"/>
                <a:gridCol w="1783080"/>
                <a:gridCol w="196596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Caller-ID &amp;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Bank-side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(FRI / DIP)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portals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(1930, Chakshu)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WEWAKE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8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the fake number or 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E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the victim being coerced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E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during the scam, not after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E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friction sized by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E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and lets you appeal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E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 zero risky permissions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01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E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DF1F8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50292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0120" y="53675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treats the citizen as the thing to be verified. WEWAKE treats the citizen as the person to be defended — and it is the only design here that assumes the victim is fully rational and still losing.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if this exists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1C274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 →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Non-reporting collapses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complaint writes itself, so the biggest reason victims stay silent — the form — disappears.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50876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1C2748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1737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sec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36008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pause that pays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008" y="2834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unskippable minute against a script that depends entirely on speed and fear.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50876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1C2748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1737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 ↑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57616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recovery odds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2834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Mode pushes the victim to act while the mule account can still be frozen.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individual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" y="4645152"/>
            <a:ext cx="137160" cy="137160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537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people losing the most — senior citizens, first-time digital users, and rural households.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5102352"/>
            <a:ext cx="137160" cy="137160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109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Hindi, Marathi and English, because scams are run in the victim’s own language.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5559552"/>
            <a:ext cx="137160" cy="137160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468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where regulation is already heading: RBI is actively weighing cooling periods and a transaction kill switch.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6016752"/>
            <a:ext cx="137160" cy="137160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9253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is explainable and appealable — a defence against fraud that does not become surveillance.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working product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371600" cy="914400"/>
          </a:xfrm>
          <a:prstGeom prst="roundRect">
            <a:avLst>
              <a:gd name="adj" fmla="val 7000"/>
            </a:avLst>
          </a:prstGeom>
          <a:solidFill>
            <a:srgbClr val="E538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46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48840" y="1463040"/>
            <a:ext cx="9372600" cy="914400"/>
          </a:xfrm>
          <a:prstGeom prst="roundRect">
            <a:avLst>
              <a:gd name="adj" fmla="val 7000"/>
            </a:avLst>
          </a:prstGeom>
          <a:solidFill>
            <a:srgbClr val="EDF1F8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160934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23160" y="194767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Script Engine, Authority Truth Card, Secrecy Trigger. This alone is already a demo.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371600" cy="914400"/>
          </a:xfrm>
          <a:prstGeom prst="roundRect">
            <a:avLst>
              <a:gd name="adj" fmla="val 7000"/>
            </a:avLst>
          </a:prstGeom>
          <a:solidFill>
            <a:srgbClr val="B4700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620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48840" y="2578608"/>
            <a:ext cx="9372600" cy="914400"/>
          </a:xfrm>
          <a:prstGeom prst="roundRect">
            <a:avLst>
              <a:gd name="adj" fmla="val 7000"/>
            </a:avLst>
          </a:prstGeom>
          <a:solidFill>
            <a:srgbClr val="ED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272491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friction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160" y="30632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Timer, Circuit Breaker, Reverse Verification, plus the three DRISHTI checkers.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1371600" cy="914400"/>
          </a:xfrm>
          <a:prstGeom prst="roundRect">
            <a:avLst>
              <a:gd name="adj" fmla="val 7000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148840" y="3694176"/>
            <a:ext cx="9372600" cy="914400"/>
          </a:xfrm>
          <a:prstGeom prst="roundRect">
            <a:avLst>
              <a:gd name="adj" fmla="val 7000"/>
            </a:avLst>
          </a:prstGeom>
          <a:solidFill>
            <a:srgbClr val="EDF1F8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38404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aftermath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23160" y="417880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Mode, Evidence Filing, Why-It-Flagged Log, polish and demo video.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09744"/>
            <a:ext cx="1371600" cy="914400"/>
          </a:xfrm>
          <a:prstGeom prst="roundRect">
            <a:avLst>
              <a:gd name="adj" fmla="val 7000"/>
            </a:avLst>
          </a:prstGeom>
          <a:solidFill>
            <a:srgbClr val="4A6FA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93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148840" y="4809744"/>
            <a:ext cx="9372600" cy="914400"/>
          </a:xfrm>
          <a:prstGeom prst="roundRect">
            <a:avLst>
              <a:gd name="adj" fmla="val 7000"/>
            </a:avLst>
          </a:prstGeom>
          <a:solidFill>
            <a:srgbClr val="EDF1F8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0" y="49560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hackathon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23160" y="529437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Indian languages, a community threat registry, and a webhook so a bank or PSP can consume the duress signal.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1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discipline: if time runs short, features 4, 6, 8, 11 and 12 still tell the complete story on their own — detect, warn, break the trance, file the evidence, explain the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1C2748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4A1F2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745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scammer’s only real weapon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that you never stop to think.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15568" y="3749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WEWAKE gives that moment back.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5568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WEWAKE  ·  Wake up before you pay.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Mhanta  ·  Prasunethon 2.0  ·  Cybersecurity Track  ·  tarunmhanta30@gmail.com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200" b="1" i="0">
                <a:solidFill>
                  <a:srgbClr val="F4A340"/>
                </a:solidFill>
                <a:latin typeface="Calibri"/>
              </a:rPr>
              <a:t>BEYOND THE ORIGINAL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mbria"/>
              </a:rPr>
              <a:t>Three upgrades that make it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ts val="2300"/>
              </a:lnSpc>
            </a:pPr>
            <a:r>
              <a:rPr sz="1500" b="0" i="0">
                <a:solidFill>
                  <a:srgbClr val="C7D0E4"/>
                </a:solidFill>
                <a:latin typeface="Calibri"/>
              </a:rPr>
              <a:t>The judging question we anticipated: “is this just keyword matching, in English, on typed text?”</a:t>
            </a:r>
          </a:p>
          <a:p>
            <a:pPr>
              <a:lnSpc>
                <a:spcPts val="2300"/>
              </a:lnSpc>
            </a:pPr>
            <a:r>
              <a:rPr sz="1500" b="0" i="0">
                <a:solidFill>
                  <a:srgbClr val="C7D0E4"/>
                </a:solidFill>
                <a:latin typeface="Calibri"/>
              </a:rPr>
              <a:t>These three additions answer it — the engine now learns, speaks India’s languages, and hears real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29000" cy="2834640"/>
          </a:xfrm>
          <a:prstGeom prst="roundRect">
            <a:avLst>
              <a:gd name="adj" fmla="val 9000"/>
            </a:avLst>
          </a:prstGeom>
          <a:solidFill>
            <a:srgbClr val="1C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633472"/>
            <a:ext cx="658368" cy="658368"/>
          </a:xfrm>
          <a:prstGeom prst="ellipse">
            <a:avLst/>
          </a:prstGeom>
          <a:solidFill>
            <a:srgbClr val="E53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70632"/>
            <a:ext cx="658368" cy="3840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74720"/>
            <a:ext cx="2926080" cy="3840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2100" b="1" i="0">
                <a:solidFill>
                  <a:srgbClr val="FFFFFF"/>
                </a:solidFill>
                <a:latin typeface="Cambria"/>
              </a:rPr>
              <a:t>LEARNS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31920"/>
            <a:ext cx="2926080" cy="1188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ts val="1800"/>
              </a:lnSpc>
            </a:pPr>
            <a:r>
              <a:rPr sz="1250" b="0" i="0">
                <a:solidFill>
                  <a:srgbClr val="C7D0E4"/>
                </a:solidFill>
                <a:latin typeface="Calibri"/>
              </a:rPr>
              <a:t>Hybrid ML classifier runs beside the rules — catches reworded scams with zero keyword matches.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377440"/>
            <a:ext cx="3429000" cy="2834640"/>
          </a:xfrm>
          <a:prstGeom prst="roundRect">
            <a:avLst>
              <a:gd name="adj" fmla="val 9000"/>
            </a:avLst>
          </a:prstGeom>
          <a:solidFill>
            <a:srgbClr val="1C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633472"/>
            <a:ext cx="658368" cy="658368"/>
          </a:xfrm>
          <a:prstGeom prst="ellipse">
            <a:avLst/>
          </a:prstGeom>
          <a:solidFill>
            <a:srgbClr val="F4A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770632"/>
            <a:ext cx="658368" cy="3840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74720"/>
            <a:ext cx="2926080" cy="3840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2100" b="1" i="0">
                <a:solidFill>
                  <a:srgbClr val="FFFFFF"/>
                </a:solidFill>
                <a:latin typeface="Cambria"/>
              </a:rPr>
              <a:t>SPEAKS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931920"/>
            <a:ext cx="2926080" cy="1188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ts val="1800"/>
              </a:lnSpc>
            </a:pPr>
            <a:r>
              <a:rPr sz="1250" b="0" i="0">
                <a:solidFill>
                  <a:srgbClr val="C7D0E4"/>
                </a:solidFill>
                <a:latin typeface="Calibri"/>
              </a:rPr>
              <a:t>Hindi and Marathi, in Devanagari and Roman script — the language the victim is actually scammed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377440"/>
            <a:ext cx="3429000" cy="2834640"/>
          </a:xfrm>
          <a:prstGeom prst="roundRect">
            <a:avLst>
              <a:gd name="adj" fmla="val 9000"/>
            </a:avLst>
          </a:prstGeom>
          <a:solidFill>
            <a:srgbClr val="1C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7" y="2633472"/>
            <a:ext cx="658368" cy="658368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770632"/>
            <a:ext cx="658368" cy="3840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474720"/>
            <a:ext cx="2926080" cy="3840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2100" b="1" i="0">
                <a:solidFill>
                  <a:srgbClr val="FFFFFF"/>
                </a:solidFill>
                <a:latin typeface="Cambria"/>
              </a:rPr>
              <a:t>HEARS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931920"/>
            <a:ext cx="2926080" cy="1188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ts val="1800"/>
              </a:lnSpc>
            </a:pPr>
            <a:r>
              <a:rPr sz="1250" b="0" i="0">
                <a:solidFill>
                  <a:srgbClr val="C7D0E4"/>
                </a:solidFill>
                <a:latin typeface="Calibri"/>
              </a:rPr>
              <a:t>Upload a real call recording — transcribed, then run through the same coercion engine.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C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87568"/>
            <a:ext cx="10241280" cy="502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700" b="1" i="0">
                <a:solidFill>
                  <a:srgbClr val="F4A340"/>
                </a:solidFill>
                <a:latin typeface="Cambria"/>
              </a:rPr>
              <a:t>15 features. Same core idea — detect the human under coercion, not the fake message.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200" b="1" i="0">
                <a:solidFill>
                  <a:srgbClr val="E5383B"/>
                </a:solidFill>
                <a:latin typeface="Calibri"/>
              </a:rPr>
              <a:t>FEATURE 13  ·  HYBRID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3800" b="1" i="0">
                <a:solidFill>
                  <a:srgbClr val="10182E"/>
                </a:solidFill>
                <a:latin typeface="Cambria"/>
              </a:rPr>
              <a:t>Not keyword matching. It generalises.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685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ts val="2300"/>
              </a:lnSpc>
            </a:pPr>
            <a:r>
              <a:rPr sz="1500" b="0" i="0">
                <a:solidFill>
                  <a:srgbClr val="5B6478"/>
                </a:solidFill>
                <a:latin typeface="Calibri"/>
              </a:rPr>
              <a:t>A trained classifier (TF-IDF word + character n-grams, Logistic Regression) runs alongside the rule engine. The ML can only escalate risk, never reduce it — a clear rules-based DANGER is never softened.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7200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050" b="1" i="0">
                <a:solidFill>
                  <a:srgbClr val="5B647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194560"/>
            <a:ext cx="14630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050" b="1" i="0">
                <a:solidFill>
                  <a:srgbClr val="5B6478"/>
                </a:solidFill>
                <a:latin typeface="Calibri"/>
              </a:rPr>
              <a:t>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050" b="1" i="0">
                <a:solidFill>
                  <a:srgbClr val="5B6478"/>
                </a:solidFill>
                <a:latin typeface="Calibri"/>
              </a:rPr>
              <a:t>ML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050" b="1" i="0">
                <a:solidFill>
                  <a:srgbClr val="5B6478"/>
                </a:solidFill>
                <a:latin typeface="Calibri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050" b="1" i="0">
                <a:solidFill>
                  <a:srgbClr val="5B6478"/>
                </a:solidFill>
                <a:latin typeface="Calibri"/>
              </a:rPr>
              <a:t>CAUGHT BY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10881360" cy="777240"/>
          </a:xfrm>
          <a:prstGeom prst="roundRect">
            <a:avLst>
              <a:gd name="adj" fmla="val 9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43784"/>
            <a:ext cx="43891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350" b="1" i="0">
                <a:solidFill>
                  <a:srgbClr val="10182E"/>
                </a:solidFill>
                <a:latin typeface="Calibri"/>
              </a:rPr>
              <a:t>Classic scam — rules and ML agree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43784"/>
            <a:ext cx="146304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5B6478"/>
                </a:solidFill>
                <a:latin typeface="Cambria"/>
              </a:rPr>
              <a:t>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43784"/>
            <a:ext cx="16459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5B6478"/>
                </a:solidFill>
                <a:latin typeface="Cambria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43784"/>
            <a:ext cx="155448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E5383B"/>
                </a:solidFill>
                <a:latin typeface="Cambria"/>
              </a:rPr>
              <a:t>DANGER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843784"/>
            <a:ext cx="16459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200" b="1" i="0">
                <a:solidFill>
                  <a:srgbClr val="E5383B"/>
                </a:solidFill>
                <a:latin typeface="Calibri"/>
              </a:rPr>
              <a:t>BOTH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0881360" cy="777240"/>
          </a:xfrm>
          <a:prstGeom prst="roundRect">
            <a:avLst>
              <a:gd name="adj" fmla="val 9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03904"/>
            <a:ext cx="43891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350" b="1" i="0">
                <a:solidFill>
                  <a:srgbClr val="10182E"/>
                </a:solidFill>
                <a:latin typeface="Calibri"/>
              </a:rPr>
              <a:t>Reworded scam — zero keywords 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803904"/>
            <a:ext cx="146304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5B6478"/>
                </a:solidFill>
                <a:latin typeface="Cambr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03904"/>
            <a:ext cx="16459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5B6478"/>
                </a:solidFill>
                <a:latin typeface="Cambria"/>
              </a:rPr>
              <a:t>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03904"/>
            <a:ext cx="155448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B4700C"/>
                </a:solidFill>
                <a:latin typeface="Cambria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803904"/>
            <a:ext cx="16459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200" b="1" i="0">
                <a:solidFill>
                  <a:srgbClr val="B4700C"/>
                </a:solidFill>
                <a:latin typeface="Calibri"/>
              </a:rPr>
              <a:t>ML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9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64024"/>
            <a:ext cx="43891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350" b="1" i="0">
                <a:solidFill>
                  <a:srgbClr val="10182E"/>
                </a:solidFill>
                <a:latin typeface="Calibri"/>
              </a:rPr>
              <a:t>Ordinary message — no false positive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764024"/>
            <a:ext cx="146304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5B6478"/>
                </a:solidFill>
                <a:latin typeface="Cambr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764024"/>
            <a:ext cx="16459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5B6478"/>
                </a:solidFill>
                <a:latin typeface="Cambria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64024"/>
            <a:ext cx="155448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10182E"/>
                </a:solidFill>
                <a:latin typeface="Cambria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764024"/>
            <a:ext cx="16459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200" b="1" i="0">
                <a:solidFill>
                  <a:srgbClr val="10182E"/>
                </a:solidFill>
                <a:latin typeface="Calibri"/>
              </a:rPr>
              <a:t>NEITHER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833872"/>
            <a:ext cx="10241280" cy="457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600" b="1" i="0">
                <a:solidFill>
                  <a:srgbClr val="F4A340"/>
                </a:solidFill>
                <a:latin typeface="Cambria"/>
              </a:rPr>
              <a:t>Row two is the proof: the rules found nothing, the model caught it anyway.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200" b="1" i="0">
                <a:solidFill>
                  <a:srgbClr val="E5383B"/>
                </a:solidFill>
                <a:latin typeface="Calibri"/>
              </a:rPr>
              <a:t>FEATURES 14 &amp; 15  ·  LANGUAGE AND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3800" b="1" i="0">
                <a:solidFill>
                  <a:srgbClr val="10182E"/>
                </a:solidFill>
                <a:latin typeface="Cambria"/>
              </a:rPr>
              <a:t>Scams are not run in English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3931920"/>
          </a:xfrm>
          <a:prstGeom prst="roundRect">
            <a:avLst>
              <a:gd name="adj" fmla="val 9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484632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2100" b="1" i="0">
                <a:solidFill>
                  <a:srgbClr val="B4700C"/>
                </a:solidFill>
                <a:latin typeface="Cambria"/>
              </a:rPr>
              <a:t>14 · Hindi and Marathi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6400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ts val="1800"/>
              </a:lnSpc>
            </a:pPr>
            <a:r>
              <a:rPr sz="1300" b="0" i="0">
                <a:solidFill>
                  <a:srgbClr val="5B6478"/>
                </a:solidFill>
                <a:latin typeface="Calibri"/>
              </a:rPr>
              <a:t>The same coercion elements, detected in the victim’s own language — in Devanagari and in Roman script.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99232"/>
            <a:ext cx="146304" cy="146304"/>
          </a:xfrm>
          <a:prstGeom prst="ellipse">
            <a:avLst/>
          </a:prstGeom>
          <a:solidFill>
            <a:srgbClr val="E53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926080"/>
            <a:ext cx="4572000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10182E"/>
                </a:solidFill>
                <a:latin typeface="Calibri"/>
              </a:rPr>
              <a:t>किसी को मत बताना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200400"/>
            <a:ext cx="457200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150" b="0" i="0">
                <a:solidFill>
                  <a:srgbClr val="5B6478"/>
                </a:solidFill>
                <a:latin typeface="Calibri"/>
              </a:rPr>
              <a:t>secrecy demand — Hindi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57600"/>
            <a:ext cx="146304" cy="146304"/>
          </a:xfrm>
          <a:prstGeom prst="ellipse">
            <a:avLst/>
          </a:prstGeom>
          <a:solidFill>
            <a:srgbClr val="E53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584448"/>
            <a:ext cx="4572000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10182E"/>
                </a:solidFill>
                <a:latin typeface="Calibri"/>
              </a:rPr>
              <a:t>कोणालाही सांगू नका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858768"/>
            <a:ext cx="457200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150" b="0" i="0">
                <a:solidFill>
                  <a:srgbClr val="5B6478"/>
                </a:solidFill>
                <a:latin typeface="Calibri"/>
              </a:rPr>
              <a:t>secrecy demand — Marathi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15968"/>
            <a:ext cx="146304" cy="146304"/>
          </a:xfrm>
          <a:prstGeom prst="ellipse">
            <a:avLst/>
          </a:prstGeom>
          <a:solidFill>
            <a:srgbClr val="E53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242816"/>
            <a:ext cx="4572000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500" b="1" i="0">
                <a:solidFill>
                  <a:srgbClr val="10182E"/>
                </a:solidFill>
                <a:latin typeface="Calibri"/>
              </a:rPr>
              <a:t>kisi ko mat batana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517136"/>
            <a:ext cx="457200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150" b="0" i="0">
                <a:solidFill>
                  <a:srgbClr val="5B6478"/>
                </a:solidFill>
                <a:latin typeface="Calibri"/>
              </a:rPr>
              <a:t>secrecy demand — Romanized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48463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200" b="1" i="1">
                <a:solidFill>
                  <a:srgbClr val="B4700C"/>
                </a:solidFill>
                <a:latin typeface="Calibri"/>
              </a:rPr>
              <a:t>451 corpus phrases  ·  language-aware ML thresholds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212080" cy="3931920"/>
          </a:xfrm>
          <a:prstGeom prst="roundRect">
            <a:avLst>
              <a:gd name="adj" fmla="val 9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64208"/>
            <a:ext cx="466344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2100" b="1" i="0">
                <a:solidFill>
                  <a:srgbClr val="4A6FA5"/>
                </a:solidFill>
                <a:latin typeface="Cambria"/>
              </a:rPr>
              <a:t>15 · Audio scam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40"/>
            <a:ext cx="4663440" cy="777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ts val="1800"/>
              </a:lnSpc>
            </a:pPr>
            <a:r>
              <a:rPr sz="1300" b="0" i="0">
                <a:solidFill>
                  <a:srgbClr val="5B6478"/>
                </a:solidFill>
                <a:latin typeface="Calibri"/>
              </a:rPr>
              <a:t>Upload a recording of a suspicious call. WEWAKE transcribes it, then runs the transcript through the full hybrid, multilingual engine.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118104"/>
            <a:ext cx="146304" cy="146304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3063240"/>
            <a:ext cx="43891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300" b="0" i="0">
                <a:solidFill>
                  <a:srgbClr val="10182E"/>
                </a:solidFill>
                <a:latin typeface="Calibri"/>
              </a:rPr>
              <a:t>Upload the call recording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621024"/>
            <a:ext cx="146304" cy="146304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3566160"/>
            <a:ext cx="43891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300" b="0" i="0">
                <a:solidFill>
                  <a:srgbClr val="10182E"/>
                </a:solidFill>
                <a:latin typeface="Calibri"/>
              </a:rPr>
              <a:t>Transcribed on-device (faster-whisper)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123944"/>
            <a:ext cx="146304" cy="146304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288" y="4069080"/>
            <a:ext cx="43891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300" b="0" i="0">
                <a:solidFill>
                  <a:srgbClr val="10182E"/>
                </a:solidFill>
                <a:latin typeface="Calibri"/>
              </a:rPr>
              <a:t>Scored by rules + ML + language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626864"/>
            <a:ext cx="146304" cy="146304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4572000"/>
            <a:ext cx="438912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300" b="0" i="0">
                <a:solidFill>
                  <a:srgbClr val="10182E"/>
                </a:solidFill>
                <a:latin typeface="Calibri"/>
              </a:rPr>
              <a:t>Same DANGER verdict as typed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38928"/>
            <a:ext cx="466344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150" b="0" i="1">
                <a:solidFill>
                  <a:srgbClr val="5B6478"/>
                </a:solidFill>
                <a:latin typeface="Calibri"/>
              </a:rPr>
              <a:t>Analyses recorded clips — not live calls. Stated, not hidden.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833872"/>
            <a:ext cx="10241280" cy="457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sz="1600" b="1" i="0">
                <a:solidFill>
                  <a:srgbClr val="F4A340"/>
                </a:solidFill>
                <a:latin typeface="Cambria"/>
              </a:rPr>
              <a:t>Tested on a real recording: garbled audio, rules scored only 50 — the ML still pushed it to 82, DANGER.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WEWAKE - Prasunethon 2.0</dc:title>
  <dc:subject>PptxGenJS Presentation</dc:subject>
  <dc:creator>Tarun Mhanta</dc:creator>
  <cp:lastModifiedBy>Tarun Mhanta</cp:lastModifiedBy>
  <cp:revision>1</cp:revision>
  <dcterms:created xsi:type="dcterms:W3CDTF">2026-08-18T06:41:59Z</dcterms:created>
  <dcterms:modified xsi:type="dcterms:W3CDTF">2026-08-18T06:41:59Z</dcterms:modified>
</cp:coreProperties>
</file>